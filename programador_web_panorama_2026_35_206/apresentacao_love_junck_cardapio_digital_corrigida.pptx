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30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822960"/>
            <a:ext cx="2286000" cy="2286000"/>
          </a:xfrm>
          <a:prstGeom prst="ellipse">
            <a:avLst/>
          </a:prstGeom>
          <a:solidFill>
            <a:srgbClr val="BF2626"/>
          </a:solidFill>
          <a:ln>
            <a:solidFill>
              <a:srgbClr val="BF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1920240"/>
            <a:ext cx="1097280" cy="1097280"/>
          </a:xfrm>
          <a:prstGeom prst="ellipse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38160" y="2743200"/>
            <a:ext cx="502920" cy="502920"/>
          </a:xfrm>
          <a:prstGeom prst="ellipse">
            <a:avLst/>
          </a:prstGeom>
          <a:solidFill>
            <a:srgbClr val="F2B138"/>
          </a:solidFill>
          <a:ln>
            <a:solidFill>
              <a:srgbClr val="F2B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621792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1">
                <a:solidFill>
                  <a:srgbClr val="F2B138"/>
                </a:solidFill>
                <a:latin typeface="Aptos"/>
              </a:rPr>
              <a:t>LOVE JUNCK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7498079" cy="15544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Cardápio digital
para pedidos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6949440" cy="5943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Apresentação do sistema da Love Junck Lanchonete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754880"/>
            <a:ext cx="3108960" cy="502920"/>
          </a:xfrm>
          <a:prstGeom prst="roundRect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882896"/>
            <a:ext cx="2834640" cy="20116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1200" b="1">
                <a:solidFill>
                  <a:srgbClr val="73061A"/>
                </a:solidFill>
                <a:latin typeface="Aptos"/>
              </a:rPr>
              <a:t>PROJETO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06440"/>
            <a:ext cx="621792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F5DCD4"/>
                </a:solidFill>
                <a:latin typeface="Aptos"/>
              </a:rPr>
              <a:t>HTML • CSS • experiência de pedido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5989320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000" b="1">
                <a:solidFill>
                  <a:srgbClr val="BF2626"/>
                </a:solidFill>
                <a:latin typeface="Aptos"/>
              </a:rPr>
              <a:t>01 •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900" b="1">
                <a:solidFill>
                  <a:srgbClr val="73061A"/>
                </a:solidFill>
                <a:latin typeface="Aptos"/>
              </a:rPr>
              <a:t>Problemática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695F5C"/>
                </a:solidFill>
                <a:latin typeface="Aptos"/>
              </a:rPr>
              <a:t>Como tornar a consulta do cardápio e a montagem do pedido mais simples?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74519"/>
            <a:ext cx="822960" cy="54864"/>
          </a:xfrm>
          <a:prstGeom prst="rect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1000" b="1">
                <a:solidFill>
                  <a:srgbClr val="BF2626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94560"/>
            <a:ext cx="73152" cy="2331720"/>
          </a:xfrm>
          <a:prstGeom prst="rect">
            <a:avLst/>
          </a:prstGeom>
          <a:solidFill>
            <a:srgbClr val="BF2626"/>
          </a:solidFill>
          <a:ln>
            <a:solidFill>
              <a:srgbClr val="BF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340864"/>
            <a:ext cx="3044952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1">
                <a:solidFill>
                  <a:srgbClr val="73061A"/>
                </a:solidFill>
                <a:latin typeface="Aptos"/>
              </a:rPr>
              <a:t>Cardápio pouco organizado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61488"/>
            <a:ext cx="3044952" cy="1673351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Sem uma estrutura visual clara, o cliente pode ter dificuldade para localizar categorias e comparar opções.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19456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194560"/>
            <a:ext cx="73152" cy="2331720"/>
          </a:xfrm>
          <a:prstGeom prst="rect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40864"/>
            <a:ext cx="3044952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1">
                <a:solidFill>
                  <a:srgbClr val="73061A"/>
                </a:solidFill>
                <a:latin typeface="Aptos"/>
              </a:rPr>
              <a:t>Pedido 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61488"/>
            <a:ext cx="3044952" cy="1673351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Escrever ou anotar o pedido pode ser menos prático e aumentar a chance de esquecer itens ou detalhes.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9456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94560"/>
            <a:ext cx="73152" cy="2331720"/>
          </a:xfrm>
          <a:prstGeom prst="rect">
            <a:avLst/>
          </a:prstGeom>
          <a:solidFill>
            <a:srgbClr val="73061A"/>
          </a:solidFill>
          <a:ln>
            <a:solidFill>
              <a:srgbClr val="730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340864"/>
            <a:ext cx="3044952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1">
                <a:solidFill>
                  <a:srgbClr val="73061A"/>
                </a:solidFill>
                <a:latin typeface="Aptos"/>
              </a:rPr>
              <a:t>Experiência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761488"/>
            <a:ext cx="3044952" cy="1673351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Uma página sem hierarquia visual e navegação intuitiva pode dificultar o uso, principalmente em telas menores.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700" b="1">
                <a:solidFill>
                  <a:srgbClr val="73061A"/>
                </a:solidFill>
                <a:latin typeface="Aptos"/>
              </a:rPr>
              <a:t>Desafio central: apresentar os produtos de forma clara e preparar uma experiência de pedido mais organizada.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8D8D0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601968"/>
            <a:ext cx="91440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800" b="0">
                <a:solidFill>
                  <a:srgbClr val="695F5C"/>
                </a:solidFill>
                <a:latin typeface="Aptos"/>
              </a:rPr>
              <a:t>LOVE JUNCK LANCHONETE  •  SISTEMA DE CARDÁPIO DIGITAL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92824"/>
            <a:ext cx="4572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800" b="0">
                <a:solidFill>
                  <a:srgbClr val="695F5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000" b="1">
                <a:solidFill>
                  <a:srgbClr val="BF2626"/>
                </a:solidFill>
                <a:latin typeface="Aptos"/>
              </a:rPr>
              <a:t>02 • DIREÇÃO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900" b="1">
                <a:solidFill>
                  <a:srgbClr val="73061A"/>
                </a:solidFill>
                <a:latin typeface="Aptos"/>
              </a:rPr>
              <a:t>Objetivo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695F5C"/>
                </a:solidFill>
                <a:latin typeface="Aptos"/>
              </a:rPr>
              <a:t>Desenvolver uma interface web para exibir o cardápio e orientar o cliente durante a escolha.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74519"/>
            <a:ext cx="822960" cy="54864"/>
          </a:xfrm>
          <a:prstGeom prst="rect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1000" b="1">
                <a:solidFill>
                  <a:srgbClr val="BF2626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21208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73152" cy="2606040"/>
          </a:xfrm>
          <a:prstGeom prst="rect">
            <a:avLst/>
          </a:prstGeom>
          <a:solidFill>
            <a:srgbClr val="BF2626"/>
          </a:solidFill>
          <a:ln>
            <a:solidFill>
              <a:srgbClr val="BF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40864"/>
            <a:ext cx="4828032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1">
                <a:solidFill>
                  <a:srgbClr val="73061A"/>
                </a:solidFill>
                <a:latin typeface="Aptos"/>
              </a:rPr>
              <a:t>Objetivo geral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61488"/>
            <a:ext cx="4828032" cy="19476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Aptos"/>
              </a:rPr>
              <a:t>Criar um cardápio digital da Love Junck Lanchonete com categorias, produtos, preços e apresentação visual consistente.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94560"/>
            <a:ext cx="521208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194560"/>
            <a:ext cx="73152" cy="2606040"/>
          </a:xfrm>
          <a:prstGeom prst="rect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340864"/>
            <a:ext cx="4828032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1">
                <a:solidFill>
                  <a:srgbClr val="73061A"/>
                </a:solidFill>
                <a:latin typeface="Aptos"/>
              </a:rPr>
              <a:t>Objetivos específicos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828032" cy="19476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• Organizar os itens por categoria
• Facilitar a navegação
• Exibir nomes, descrições e preços
• Prever carrinho e observações
• Adaptar a página a diferentes telas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8D8D0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601968"/>
            <a:ext cx="91440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800" b="0">
                <a:solidFill>
                  <a:srgbClr val="695F5C"/>
                </a:solidFill>
                <a:latin typeface="Aptos"/>
              </a:rPr>
              <a:t>LOVE JUNCK LANCHONETE  •  SISTEMA DE CARDÁPIO DIGITAL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92824"/>
            <a:ext cx="4572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800" b="0">
                <a:solidFill>
                  <a:srgbClr val="695F5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000" b="1">
                <a:solidFill>
                  <a:srgbClr val="BF2626"/>
                </a:solidFill>
                <a:latin typeface="Aptos"/>
              </a:rPr>
              <a:t>03 • RELEVÂNCIA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900" b="1">
                <a:solidFill>
                  <a:srgbClr val="73061A"/>
                </a:solidFill>
                <a:latin typeface="Aptos"/>
              </a:rPr>
              <a:t>Justificativa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695F5C"/>
                </a:solidFill>
                <a:latin typeface="Aptos"/>
              </a:rPr>
              <a:t>Por que vale a pena desenvolver essa solução?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74519"/>
            <a:ext cx="822960" cy="54864"/>
          </a:xfrm>
          <a:prstGeom prst="rect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1000" b="1">
                <a:solidFill>
                  <a:srgbClr val="BF2626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73152" cy="2514600"/>
          </a:xfrm>
          <a:prstGeom prst="rect">
            <a:avLst/>
          </a:prstGeom>
          <a:solidFill>
            <a:srgbClr val="BF2626"/>
          </a:solidFill>
          <a:ln>
            <a:solidFill>
              <a:srgbClr val="BF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40864"/>
            <a:ext cx="3044952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1">
                <a:solidFill>
                  <a:srgbClr val="73061A"/>
                </a:solidFill>
                <a:latin typeface="Aptos"/>
              </a:rPr>
              <a:t>Praticidade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61488"/>
            <a:ext cx="3044952" cy="18562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O cliente consulta as opções em uma única página, sem depender de um cardápio físico.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194560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194560"/>
            <a:ext cx="73152" cy="2514600"/>
          </a:xfrm>
          <a:prstGeom prst="rect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40864"/>
            <a:ext cx="3044952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1">
                <a:solidFill>
                  <a:srgbClr val="73061A"/>
                </a:solidFill>
                <a:latin typeface="Aptos"/>
              </a:rPr>
              <a:t>Organização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61488"/>
            <a:ext cx="3044952" cy="18562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Categorias e informações padronizadas ajudam a localizar produtos e entender cada opção.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194560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194560"/>
            <a:ext cx="73152" cy="2514600"/>
          </a:xfrm>
          <a:prstGeom prst="rect">
            <a:avLst/>
          </a:prstGeom>
          <a:solidFill>
            <a:srgbClr val="73061A"/>
          </a:solidFill>
          <a:ln>
            <a:solidFill>
              <a:srgbClr val="730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2340864"/>
            <a:ext cx="3044952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1">
                <a:solidFill>
                  <a:srgbClr val="73061A"/>
                </a:solidFill>
                <a:latin typeface="Aptos"/>
              </a:rPr>
              <a:t>Presença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761488"/>
            <a:ext cx="3044952" cy="18562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O projeto mostra como tecnologias web podem apoiar o atendimento e modernizar a apresentação da lanchonete.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0">
                <a:solidFill>
                  <a:srgbClr val="695F5C"/>
                </a:solidFill>
                <a:latin typeface="Aptos"/>
              </a:rPr>
              <a:t>A proposta pode evoluir gradualmente: primeiro a interface, depois as funcionalidades interativas.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8D8D0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601968"/>
            <a:ext cx="91440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800" b="0">
                <a:solidFill>
                  <a:srgbClr val="695F5C"/>
                </a:solidFill>
                <a:latin typeface="Aptos"/>
              </a:rPr>
              <a:t>LOVE JUNCK LANCHONETE  •  SISTEMA DE CARDÁPIO DIGITAL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92824"/>
            <a:ext cx="4572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800" b="0">
                <a:solidFill>
                  <a:srgbClr val="695F5C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000" b="1">
                <a:solidFill>
                  <a:srgbClr val="BF2626"/>
                </a:solidFill>
                <a:latin typeface="Aptos"/>
              </a:rPr>
              <a:t>04 • PROPOSTA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900" b="1">
                <a:solidFill>
                  <a:srgbClr val="73061A"/>
                </a:solidFill>
                <a:latin typeface="Aptos"/>
              </a:rPr>
              <a:t>Solução desenvolvida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695F5C"/>
                </a:solidFill>
                <a:latin typeface="Aptos"/>
              </a:rPr>
              <a:t>Interface e funcionalidades implementadas no cardápio digital.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74519"/>
            <a:ext cx="822960" cy="54864"/>
          </a:xfrm>
          <a:prstGeom prst="rect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1000" b="1">
                <a:solidFill>
                  <a:srgbClr val="BF2626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12848"/>
            <a:ext cx="507492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12848"/>
            <a:ext cx="73152" cy="1298448"/>
          </a:xfrm>
          <a:prstGeom prst="rect">
            <a:avLst/>
          </a:prstGeom>
          <a:solidFill>
            <a:srgbClr val="BF2626"/>
          </a:solidFill>
          <a:ln>
            <a:solidFill>
              <a:srgbClr val="BF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59152"/>
            <a:ext cx="4690872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1">
                <a:solidFill>
                  <a:srgbClr val="73061A"/>
                </a:solidFill>
                <a:latin typeface="Aptos"/>
              </a:rPr>
              <a:t>Cardápio organizado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779776"/>
            <a:ext cx="4690872" cy="6400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ptos"/>
              </a:rPr>
              <a:t>Produtos apresentados por categoria, com nomes e preços para facilitar a escolha.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30752"/>
            <a:ext cx="507492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730752"/>
            <a:ext cx="73152" cy="1298448"/>
          </a:xfrm>
          <a:prstGeom prst="rect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877056"/>
            <a:ext cx="4690872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1">
                <a:solidFill>
                  <a:srgbClr val="73061A"/>
                </a:solidFill>
                <a:latin typeface="Aptos"/>
              </a:rPr>
              <a:t>Carrinho de compras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4297680"/>
            <a:ext cx="4690872" cy="6400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ptos"/>
              </a:rPr>
              <a:t>JavaScript controla as interações do carrinho conforme as funcionalidades implementadas.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212848"/>
            <a:ext cx="507492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212848"/>
            <a:ext cx="73152" cy="1298448"/>
          </a:xfrm>
          <a:prstGeom prst="rect">
            <a:avLst/>
          </a:prstGeom>
          <a:solidFill>
            <a:srgbClr val="73061A"/>
          </a:solidFill>
          <a:ln>
            <a:solidFill>
              <a:srgbClr val="730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359152"/>
            <a:ext cx="4690872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1">
                <a:solidFill>
                  <a:srgbClr val="73061A"/>
                </a:solidFill>
                <a:latin typeface="Aptos"/>
              </a:rPr>
              <a:t>Navegação do pedido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779776"/>
            <a:ext cx="4690872" cy="6400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ptos"/>
              </a:rPr>
              <a:t>A interface conduz o cliente pelas etapas para montar e revisar o pedido.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30752"/>
            <a:ext cx="507492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730752"/>
            <a:ext cx="73152" cy="1298448"/>
          </a:xfrm>
          <a:prstGeom prst="rect">
            <a:avLst/>
          </a:prstGeom>
          <a:solidFill>
            <a:srgbClr val="F2B138"/>
          </a:solidFill>
          <a:ln>
            <a:solidFill>
              <a:srgbClr val="F2B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877056"/>
            <a:ext cx="4690872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1">
                <a:solidFill>
                  <a:srgbClr val="73061A"/>
                </a:solidFill>
                <a:latin typeface="Aptos"/>
              </a:rPr>
              <a:t>Checkout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297680"/>
            <a:ext cx="4690872" cy="6400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ptos"/>
              </a:rPr>
              <a:t>Área de endereço e seleção da forma de pagamento no fluxo do sistema.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695F5C"/>
                </a:solidFill>
                <a:latin typeface="Aptos"/>
              </a:rPr>
              <a:t>O projeto reúne estrutura, apresentação visual e interatividade com HTML, CSS e JavaScript.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8D8D0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601968"/>
            <a:ext cx="91440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800" b="0">
                <a:solidFill>
                  <a:srgbClr val="695F5C"/>
                </a:solidFill>
                <a:latin typeface="Aptos"/>
              </a:rPr>
              <a:t>LOVE JUNCK LANCHONETE  •  SISTEMA DE CARDÁPIO DIGITAL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92824"/>
            <a:ext cx="4572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800" b="0">
                <a:solidFill>
                  <a:srgbClr val="695F5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000" b="1">
                <a:solidFill>
                  <a:srgbClr val="BF2626"/>
                </a:solidFill>
                <a:latin typeface="Aptos"/>
              </a:rPr>
              <a:t>05 • IMPLEMENTAÇÃO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900" b="1">
                <a:solidFill>
                  <a:srgbClr val="73061A"/>
                </a:solidFill>
                <a:latin typeface="Aptos"/>
              </a:rPr>
              <a:t>Tecnologias utilizadas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695F5C"/>
                </a:solidFill>
                <a:latin typeface="Aptos"/>
              </a:rPr>
              <a:t>As três tecnologias fazem parte da versão atual do sistema.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74519"/>
            <a:ext cx="822960" cy="54864"/>
          </a:xfrm>
          <a:prstGeom prst="rect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1000" b="1">
                <a:solidFill>
                  <a:srgbClr val="BF2626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73152" cy="2514600"/>
          </a:xfrm>
          <a:prstGeom prst="rect">
            <a:avLst/>
          </a:prstGeom>
          <a:solidFill>
            <a:srgbClr val="BF2626"/>
          </a:solidFill>
          <a:ln>
            <a:solidFill>
              <a:srgbClr val="BF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86584"/>
            <a:ext cx="3044952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1">
                <a:solidFill>
                  <a:srgbClr val="73061A"/>
                </a:solidFill>
                <a:latin typeface="Aptos"/>
              </a:rPr>
              <a:t>HTML5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07208"/>
            <a:ext cx="3044952" cy="18562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Estrutura da página: cabeçalho, navegação, categorias, produtos, formulários, carrinho e checkout.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240280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240280"/>
            <a:ext cx="73152" cy="2514600"/>
          </a:xfrm>
          <a:prstGeom prst="rect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86584"/>
            <a:ext cx="3044952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1">
                <a:solidFill>
                  <a:srgbClr val="73061A"/>
                </a:solidFill>
                <a:latin typeface="Aptos"/>
              </a:rPr>
              <a:t>CSS3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07208"/>
            <a:ext cx="3044952" cy="18562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Identidade visual, cores, tipografia, organização dos produtos, botões, cartões e responsividade.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240280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240280"/>
            <a:ext cx="73152" cy="2514600"/>
          </a:xfrm>
          <a:prstGeom prst="rect">
            <a:avLst/>
          </a:prstGeom>
          <a:solidFill>
            <a:srgbClr val="73061A"/>
          </a:solidFill>
          <a:ln>
            <a:solidFill>
              <a:srgbClr val="730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2386584"/>
            <a:ext cx="3044952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1">
                <a:solidFill>
                  <a:srgbClr val="73061A"/>
                </a:solidFill>
                <a:latin typeface="Aptos"/>
              </a:rPr>
              <a:t>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807208"/>
            <a:ext cx="3044952" cy="18562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Interatividade e lógica do pedido, incluindo as ações implementadas no carrinho e no fluxo de checkout.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400" b="0">
                <a:solidFill>
                  <a:srgbClr val="695F5C"/>
                </a:solidFill>
                <a:latin typeface="Aptos"/>
              </a:rPr>
              <a:t>Biblioteca de ícones: Font Awesome. A interface utiliza a paleta visual definida para a Love Junck Lanchonete.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8D8D0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601968"/>
            <a:ext cx="91440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800" b="0">
                <a:solidFill>
                  <a:srgbClr val="695F5C"/>
                </a:solidFill>
                <a:latin typeface="Aptos"/>
              </a:rPr>
              <a:t>LOVE JUNCK LANCHONETE  •  SISTEMA DE CARDÁPIO DIGITAL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92824"/>
            <a:ext cx="4572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800" b="0">
                <a:solidFill>
                  <a:srgbClr val="695F5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000" b="1">
                <a:solidFill>
                  <a:srgbClr val="BF2626"/>
                </a:solidFill>
                <a:latin typeface="Aptos"/>
              </a:rPr>
              <a:t>06 • NAVEGAÇÃO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900" b="1">
                <a:solidFill>
                  <a:srgbClr val="73061A"/>
                </a:solidFill>
                <a:latin typeface="Aptos"/>
              </a:rPr>
              <a:t>Referências e fluxo do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695F5C"/>
                </a:solidFill>
                <a:latin typeface="Aptos"/>
              </a:rPr>
              <a:t>Jornada do cliente ao utilizar o cardápio digital.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74519"/>
            <a:ext cx="822960" cy="54864"/>
          </a:xfrm>
          <a:prstGeom prst="rect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1000" b="1">
                <a:solidFill>
                  <a:srgbClr val="BF2626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45720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1">
                <a:solidFill>
                  <a:srgbClr val="BF2626"/>
                </a:solidFill>
                <a:latin typeface="Aptos"/>
              </a:rPr>
              <a:t>FLUXO DO PEDIDO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2834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2724912"/>
            <a:ext cx="329184" cy="329184"/>
          </a:xfrm>
          <a:prstGeom prst="ellipse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816352"/>
            <a:ext cx="182880" cy="1097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900" b="1">
                <a:solidFill>
                  <a:srgbClr val="73061A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761488"/>
            <a:ext cx="214884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ptos"/>
              </a:rPr>
              <a:t>Abrir o cardápio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92424"/>
            <a:ext cx="2834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1832" y="3511296"/>
            <a:ext cx="329184" cy="329184"/>
          </a:xfrm>
          <a:prstGeom prst="ellipse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" y="3602736"/>
            <a:ext cx="182880" cy="1097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900" b="1">
                <a:solidFill>
                  <a:srgbClr val="73061A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547872"/>
            <a:ext cx="214884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ptos"/>
              </a:rPr>
              <a:t>Escolher produtos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78808"/>
            <a:ext cx="2834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4297680"/>
            <a:ext cx="329184" cy="329184"/>
          </a:xfrm>
          <a:prstGeom prst="ellipse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" y="4389120"/>
            <a:ext cx="182880" cy="1097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900" b="1">
                <a:solidFill>
                  <a:srgbClr val="73061A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334256"/>
            <a:ext cx="214884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ptos"/>
              </a:rPr>
              <a:t>Adicionar ao carrinho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2606040"/>
            <a:ext cx="2834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87952" y="2724912"/>
            <a:ext cx="329184" cy="329184"/>
          </a:xfrm>
          <a:prstGeom prst="ellipse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1104" y="2816352"/>
            <a:ext cx="182880" cy="1097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900" b="1">
                <a:solidFill>
                  <a:srgbClr val="73061A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2761488"/>
            <a:ext cx="214884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ptos"/>
              </a:rPr>
              <a:t>Revisar itens e quantidades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3392424"/>
            <a:ext cx="2834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87952" y="3511296"/>
            <a:ext cx="329184" cy="329184"/>
          </a:xfrm>
          <a:prstGeom prst="ellipse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1104" y="3602736"/>
            <a:ext cx="182880" cy="1097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900" b="1">
                <a:solidFill>
                  <a:srgbClr val="73061A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8" y="3547872"/>
            <a:ext cx="214884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ptos"/>
              </a:rPr>
              <a:t>Informar endereço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69080" y="4178808"/>
            <a:ext cx="2834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87952" y="4297680"/>
            <a:ext cx="329184" cy="329184"/>
          </a:xfrm>
          <a:prstGeom prst="ellipse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61104" y="4389120"/>
            <a:ext cx="182880" cy="1097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900" b="1">
                <a:solidFill>
                  <a:srgbClr val="73061A"/>
                </a:solidFill>
                <a:latin typeface="Apto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008" y="4334256"/>
            <a:ext cx="214884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Aptos"/>
              </a:rPr>
              <a:t>Selecionar pagamento e finalizar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2267712"/>
            <a:ext cx="3749039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5552" y="2514600"/>
            <a:ext cx="3246120" cy="4114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1">
                <a:solidFill>
                  <a:srgbClr val="73061A"/>
                </a:solidFill>
                <a:latin typeface="Aptos"/>
              </a:rPr>
              <a:t>REFERÊNCIAS DE IMPLEMENTAÇÃO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5552" y="3063240"/>
            <a:ext cx="3200400" cy="18288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ptos"/>
              </a:rPr>
              <a:t>• MDN Web Docs — HTML e CSS
developer.mozilla.org
• W3C — padrões para a Web
w3.org
• Font Awesome — ícones
fontawesome.com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257800"/>
            <a:ext cx="649224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000" b="0">
                <a:solidFill>
                  <a:srgbClr val="695F5C"/>
                </a:solidFill>
                <a:latin typeface="Aptos"/>
              </a:rPr>
              <a:t>O fluxo resume as etapas do cliente, desde a escolha dos produtos até a finalização do pedido.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8D8D0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601968"/>
            <a:ext cx="91440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800" b="0">
                <a:solidFill>
                  <a:srgbClr val="695F5C"/>
                </a:solidFill>
                <a:latin typeface="Aptos"/>
              </a:rPr>
              <a:t>LOVE JUNCK LANCHONETE  •  SISTEMA DE CARDÁPIO DIGITAL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92824"/>
            <a:ext cx="4572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800" b="0">
                <a:solidFill>
                  <a:srgbClr val="695F5C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000" b="1">
                <a:solidFill>
                  <a:srgbClr val="BF2626"/>
                </a:solidFill>
                <a:latin typeface="Aptos"/>
              </a:rPr>
              <a:t>07 • EVOLUÇÃO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900" b="1">
                <a:solidFill>
                  <a:srgbClr val="73061A"/>
                </a:solidFill>
                <a:latin typeface="Aptos"/>
              </a:rPr>
              <a:t>Planos futuros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0">
                <a:solidFill>
                  <a:srgbClr val="695F5C"/>
                </a:solidFill>
                <a:latin typeface="Aptos"/>
              </a:rPr>
              <a:t>Próximas melhorias possíveis para ampliar o sistema.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74519"/>
            <a:ext cx="822960" cy="54864"/>
          </a:xfrm>
          <a:prstGeom prst="rect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1000" b="1">
                <a:solidFill>
                  <a:srgbClr val="BF2626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507492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73152" cy="1298448"/>
          </a:xfrm>
          <a:prstGeom prst="rect">
            <a:avLst/>
          </a:prstGeom>
          <a:solidFill>
            <a:srgbClr val="BF2626"/>
          </a:solidFill>
          <a:ln>
            <a:solidFill>
              <a:srgbClr val="BF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40864"/>
            <a:ext cx="4690872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1">
                <a:solidFill>
                  <a:srgbClr val="73061A"/>
                </a:solidFill>
                <a:latin typeface="Aptos"/>
              </a:rPr>
              <a:t>Banco de dados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761488"/>
            <a:ext cx="4690872" cy="6400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ptos"/>
              </a:rPr>
              <a:t>Persistir produtos, preços e pedidos, mantendo as informações organizadas.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94560"/>
            <a:ext cx="507492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194560"/>
            <a:ext cx="73152" cy="1298448"/>
          </a:xfrm>
          <a:prstGeom prst="rect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340864"/>
            <a:ext cx="4690872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1">
                <a:solidFill>
                  <a:srgbClr val="73061A"/>
                </a:solidFill>
                <a:latin typeface="Aptos"/>
              </a:rPr>
              <a:t>Painel administrativo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690872" cy="6400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ptos"/>
              </a:rPr>
              <a:t>Cadastrar, editar e remover produtos e atualizar preços com mais facilidade.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67328"/>
            <a:ext cx="507492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767328"/>
            <a:ext cx="73152" cy="1298448"/>
          </a:xfrm>
          <a:prstGeom prst="rect">
            <a:avLst/>
          </a:prstGeom>
          <a:solidFill>
            <a:srgbClr val="73061A"/>
          </a:solidFill>
          <a:ln>
            <a:solidFill>
              <a:srgbClr val="730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913632"/>
            <a:ext cx="4690872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1">
                <a:solidFill>
                  <a:srgbClr val="73061A"/>
                </a:solidFill>
                <a:latin typeface="Aptos"/>
              </a:rPr>
              <a:t>Acompanhamento do pedido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334256"/>
            <a:ext cx="4690872" cy="6400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ptos"/>
              </a:rPr>
              <a:t>Exibir o status do pedido e facilitar a comunicação entre cliente e lanchonete.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67328"/>
            <a:ext cx="507492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767328"/>
            <a:ext cx="73152" cy="1298448"/>
          </a:xfrm>
          <a:prstGeom prst="rect">
            <a:avLst/>
          </a:prstGeom>
          <a:solidFill>
            <a:srgbClr val="F2B138"/>
          </a:solidFill>
          <a:ln>
            <a:solidFill>
              <a:srgbClr val="F2B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913632"/>
            <a:ext cx="4690872" cy="34747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1">
                <a:solidFill>
                  <a:srgbClr val="73061A"/>
                </a:solidFill>
                <a:latin typeface="Aptos"/>
              </a:rPr>
              <a:t>Integrações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334256"/>
            <a:ext cx="4690872" cy="6400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ptos"/>
              </a:rPr>
              <a:t>Avaliar integração com WhatsApp e outros serviços úteis para o atendimento.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695F5C"/>
                </a:solidFill>
                <a:latin typeface="Aptos"/>
              </a:rPr>
              <a:t>Essas são propostas futuras, não funcionalidades afirmadas como já concluídas.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8D8D0"/>
          </a:solidFill>
          <a:ln>
            <a:solidFill>
              <a:srgbClr val="E8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601968"/>
            <a:ext cx="91440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800" b="0">
                <a:solidFill>
                  <a:srgbClr val="695F5C"/>
                </a:solidFill>
                <a:latin typeface="Aptos"/>
              </a:rPr>
              <a:t>LOVE JUNCK LANCHONETE  •  SISTEMA DE CARDÁPIO DIGITAL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92824"/>
            <a:ext cx="45720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800" b="0">
                <a:solidFill>
                  <a:srgbClr val="695F5C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30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594360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400" b="1">
                <a:solidFill>
                  <a:srgbClr val="F2B138"/>
                </a:solidFill>
                <a:latin typeface="Aptos"/>
              </a:rPr>
              <a:t>LOVE JUNCK LANCHONETE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6400800" cy="8229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Obrigado(a)!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8046720" cy="7315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Cardápio digital para uma experiência de pedido mais clara, organizada e acessível.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51960"/>
            <a:ext cx="2560320" cy="530352"/>
          </a:xfrm>
          <a:prstGeom prst="roundRect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407408"/>
            <a:ext cx="2377440" cy="20116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1400" b="1">
                <a:solidFill>
                  <a:srgbClr val="73061A"/>
                </a:solidFill>
                <a:latin typeface="Aptos"/>
              </a:rPr>
              <a:t>Dúvidas?</a:t>
            </a:r>
          </a:p>
        </p:txBody>
      </p:sp>
      <p:sp>
        <p:nvSpPr>
          <p:cNvPr id="8" name="Oval 7"/>
          <p:cNvSpPr/>
          <p:nvPr/>
        </p:nvSpPr>
        <p:spPr>
          <a:xfrm>
            <a:off x="8412480" y="1188720"/>
            <a:ext cx="2011680" cy="2011680"/>
          </a:xfrm>
          <a:prstGeom prst="ellipse">
            <a:avLst/>
          </a:prstGeom>
          <a:solidFill>
            <a:srgbClr val="BF2626"/>
          </a:solidFill>
          <a:ln>
            <a:solidFill>
              <a:srgbClr val="BF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64040" y="2331720"/>
            <a:ext cx="1005840" cy="1005840"/>
          </a:xfrm>
          <a:prstGeom prst="ellipse">
            <a:avLst/>
          </a:prstGeom>
          <a:solidFill>
            <a:srgbClr val="F29E38"/>
          </a:solidFill>
          <a:ln>
            <a:solidFill>
              <a:srgbClr val="F29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658368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000" b="1">
                <a:solidFill>
                  <a:srgbClr val="F5DCD4"/>
                </a:solidFill>
                <a:latin typeface="Aptos"/>
              </a:rPr>
              <a:t>HTML • CSS • FUTURAS FUNCIONALIDADES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