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</ns0:sldIdLst>
  <ns0:sldSz cx="12192000" cy="6858000" type="screen4x3"/>
  <ns0:notesSz cx="6858000" cy="9144000"/>
  <ns0:embeddedFontLst>
    <ns0:embeddedFont>
      <ns0:font typeface="Plus Jakarta Sans"/>
      <ns0:bold ns1:id="rIdFont33"/>
      <ns0:regular ns1:id="rIdFont3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Font33" Type="http://schemas.openxmlformats.org/officeDocument/2006/relationships/font" Target="fonts/b1eb84a7-fcec-47ef-a812-712d753ea381.fntdata" /><ns0:Relationship Id="rIdFont34" Type="http://schemas.openxmlformats.org/officeDocument/2006/relationships/font" Target="fonts/8d5438df-217c-477e-86bb-2f251a35638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252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59" y="1524000"/>
            <a:ext cx="421764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84" y="1533525"/>
            <a:ext cx="4198590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594669"/>
            <a:ext cx="6393209" cy="166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Enfermagem Neurocirúrgica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918519"/>
            <a:ext cx="8266072" cy="544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Drenos Encefálicos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53730"/>
            <a:ext cx="787244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Fundamentos, indicações, manejo e cuidados de enfermagem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1800"/>
            <a:ext cx="257175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33700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33700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33700"/>
            <a:ext cx="2571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328612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2" y="3248025"/>
            <a:ext cx="39052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3248025"/>
            <a:ext cx="3048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5075" y="3248025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PLANEJAMENTO DIDÁTICO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Objetivos da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303" y="38195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Finalidade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" y="4038600"/>
            <a:ext cx="2619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Compreender o papel dos drenos encefálicos no tratamento neurocirúrgico.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653" y="37814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Tipos &amp; Sistemas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6137" y="4076700"/>
            <a:ext cx="2619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Diferenciar os dispositivos e entender seus mecanismos de drenagem.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1003" y="37814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Manejo de Enfermagem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6487" y="4076700"/>
            <a:ext cx="2619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Dominar os cuidados práticos de nivelamento e manipulação asséptica.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1353" y="37814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Segurança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6837" y="4076700"/>
            <a:ext cx="2619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Identificar e intervir precocemente nas principais complicações.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3271837"/>
            <a:ext cx="2590800" cy="1247775"/>
          </a:xfrm>
          <a:prstGeom prst="roundRect">
            <a:avLst>
              <a:gd name="adj" fmla="val 91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91600" y="3271837"/>
            <a:ext cx="2590800" cy="1247775"/>
          </a:xfrm>
          <a:prstGeom prst="roundRect">
            <a:avLst>
              <a:gd name="adj" fmla="val 91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8400" y="3271837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91600" y="3271837"/>
            <a:ext cx="38100" cy="12477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71812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0046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29112"/>
            <a:ext cx="19050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CONCEITO FUNDAMENTAL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 que são Drenos Encefálicos?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48000"/>
            <a:ext cx="5124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Dispositivos de remoção:</a:t>
            </a:r>
            <a:r>
              <a:rPr b="1" sz="1500" i="0" u="none">
                <a:solidFill>
                  <a:srgbClr val="0284C7"/>
                </a:solidFill>
                <a:latin typeface="Plus Jakarta Sans"/>
              </a:rPr>
              <a:t> retiram líquidos de compartimentos intracranianos ou do sistema nervoso central.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6650"/>
            <a:ext cx="5124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Fluidos drenados:</a:t>
            </a:r>
            <a:r>
              <a:rPr b="1" sz="1500" i="0" u="none">
                <a:solidFill>
                  <a:srgbClr val="0284C7"/>
                </a:solidFill>
                <a:latin typeface="Plus Jakarta Sans"/>
              </a:rPr>
              <a:t> líquido cefalorraquidiano (LCR), sangue ou coleções cirúrgicas.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05300"/>
            <a:ext cx="5124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Tríplice atuação:</a:t>
            </a:r>
            <a:r>
              <a:rPr b="1" sz="1500" i="0" u="none">
                <a:solidFill>
                  <a:srgbClr val="0284C7"/>
                </a:solidFill>
                <a:latin typeface="Plus Jakarta Sans"/>
              </a:rPr>
              <a:t> finalidade terapêutica, auxílio na monitorização e prevenção de complicações.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500437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Dreno Ventricular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776662"/>
            <a:ext cx="2190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Profundo; inserido diretamente no ventrículo cerebral para LCR e PIC.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8300" y="3500437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Dreno Superficial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76662"/>
            <a:ext cx="2190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Subgaleal ou subcutâneo; drena coleções hemáticas da ferida operatória.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05087"/>
            <a:ext cx="2600325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605087"/>
            <a:ext cx="2600325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690812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605087"/>
            <a:ext cx="2600325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4321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84321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92893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284321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2957512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850" y="2957512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043237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2957512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APLICAÇÕES CLÍNICAS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Finalidades da Drenagem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6067425"/>
            <a:ext cx="11420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Destaque:</a:t>
            </a:r>
            <a:r>
              <a:rPr b="0" sz="1050" i="0" u="none">
                <a:solidFill>
                  <a:srgbClr val="1E40AF"/>
                </a:solidFill>
                <a:latin typeface="Plus Jakarta Sans"/>
              </a:rPr>
              <a:t> A indicação exata depende do tipo de dispositivo, localização anatômica e diagnóstico do paciente.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3766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Tratar Hidrocefalia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671887"/>
            <a:ext cx="2219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Alívio do acúmulo ventricular de LCR de forma aguda ou temporária.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550" y="33766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Controle da 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8550" y="3671887"/>
            <a:ext cx="2219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Drenagem terapêutica para redução imediata da pressão intracraniana.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462337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Monitorização 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3757612"/>
            <a:ext cx="22193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Mensuração contínua e precisa através de transdutor acoplado.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200" y="3376612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Coleções &amp; Fístulas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0" y="3671887"/>
            <a:ext cx="2219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Evacuação de hematomas pós-cirúrgicos e manejo de fístulas liquóricas.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871787"/>
            <a:ext cx="5648325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437" y="318611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28950"/>
            <a:ext cx="76200" cy="7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81400"/>
            <a:ext cx="76200" cy="76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33850"/>
            <a:ext cx="76200" cy="76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86300"/>
            <a:ext cx="76200" cy="7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FISIOLOGIA SNC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Líquido Cefalorraquidiano (LCR)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2707" y="3948112"/>
            <a:ext cx="65710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Circulação Liquórica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0940" y="4262437"/>
            <a:ext cx="627459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O LCR preenche o sistema ventricular e o espaço subaracnóideo, sendo reabsorvido nas granulações aracnóideas.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86702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600" i="0" u="none">
                <a:solidFill>
                  <a:srgbClr val="0284C7"/>
                </a:solidFill>
                <a:latin typeface="Plus Jakarta Sans"/>
              </a:rPr>
              <a:t>Aspecto físico:</a:t>
            </a:r>
            <a:r>
              <a:rPr b="1" sz="600" i="0" u="none">
                <a:solidFill>
                  <a:srgbClr val="0284C7"/>
                </a:solidFill>
                <a:latin typeface="Plus Jakarta Sans"/>
              </a:rPr>
              <a:t> líquido claro e transparente (límpido, "água de rocha").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41947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600" i="0" u="none">
                <a:solidFill>
                  <a:srgbClr val="0284C7"/>
                </a:solidFill>
                <a:latin typeface="Plus Jakarta Sans"/>
              </a:rPr>
              <a:t>Origem:</a:t>
            </a:r>
            <a:r>
              <a:rPr b="1" sz="600" i="0" u="none">
                <a:solidFill>
                  <a:srgbClr val="0284C7"/>
                </a:solidFill>
                <a:latin typeface="Plus Jakarta Sans"/>
              </a:rPr>
              <a:t> produzido continuamente pelos plexos coroides nos ventrículos.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97192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600" i="0" u="none">
                <a:solidFill>
                  <a:srgbClr val="0284C7"/>
                </a:solidFill>
                <a:latin typeface="Plus Jakarta Sans"/>
              </a:rPr>
              <a:t>Proteção mecânica:</a:t>
            </a:r>
            <a:r>
              <a:rPr b="1" sz="600" i="0" u="none">
                <a:solidFill>
                  <a:srgbClr val="0284C7"/>
                </a:solidFill>
                <a:latin typeface="Plus Jakarta Sans"/>
              </a:rPr>
              <a:t> amortece o encéfalo e a medula contra traumas.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52437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600" i="0" u="none">
                <a:solidFill>
                  <a:srgbClr val="0284C7"/>
                </a:solidFill>
                <a:latin typeface="Plus Jakarta Sans"/>
              </a:rPr>
              <a:t>Homeostase:</a:t>
            </a:r>
            <a:r>
              <a:rPr b="1" sz="600" i="0" u="none">
                <a:solidFill>
                  <a:srgbClr val="0284C7"/>
                </a:solidFill>
                <a:latin typeface="Plus Jakarta Sans"/>
              </a:rPr>
              <a:t> mantém o ambiente químico e transporta metabólitos.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00500"/>
            <a:ext cx="10972800" cy="74295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625" y="3248025"/>
            <a:ext cx="1581150" cy="323850"/>
          </a:xfrm>
          <a:prstGeom prst="roundRect">
            <a:avLst>
              <a:gd name="adj" fmla="val 1764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9925" y="3257550"/>
            <a:ext cx="1343025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72100" y="3248025"/>
            <a:ext cx="1533525" cy="323850"/>
          </a:xfrm>
          <a:prstGeom prst="roundRect">
            <a:avLst>
              <a:gd name="adj" fmla="val 1764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24775" y="3257550"/>
            <a:ext cx="13906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34575" y="3248025"/>
            <a:ext cx="1447800" cy="323850"/>
          </a:xfrm>
          <a:prstGeom prst="roundRect">
            <a:avLst>
              <a:gd name="adj" fmla="val 1764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000500"/>
            <a:ext cx="38100" cy="742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33337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0" y="333375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525" y="3333750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325" y="3333750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ANATOMIA NEUROCIRÚRGICA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Sistema Ventricular e Trajeto do LCR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324225"/>
            <a:ext cx="1371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Ventrículos Laterais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4225" y="3333750"/>
            <a:ext cx="1209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Forames de Monro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0" y="3324225"/>
            <a:ext cx="1323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Terceiro Ventrículo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9075" y="3333750"/>
            <a:ext cx="125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Aqueduto Cerebral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6975" y="3324225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Quarto Ventrículo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191000"/>
            <a:ext cx="10648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Relevância clínica: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Obstruções em qualquer ponto deste trajeto interrompem o fluxo do LCR, resultando em acúmulo de líquido e dilatação ventricular a jusante.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762250"/>
            <a:ext cx="5638800" cy="219075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52800"/>
            <a:ext cx="5029200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8400" y="4314825"/>
            <a:ext cx="50292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4314825"/>
            <a:ext cx="5029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FISIOPATOLOGIA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Pressão Intracraniana (PIC)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067050"/>
            <a:ext cx="5124450" cy="158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Valores de Referência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52775"/>
            <a:ext cx="628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Pressão exercida pelo conteúdo dentro do crânio rígido.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00525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Esgotada a capacidade de compensação, pequenos volumes elevam a PIC rapidamente.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457575"/>
            <a:ext cx="51244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Plus Jakarta Sans"/>
              </a:rPr>
              <a:t>5 - 15 </a:t>
            </a:r>
            <a:r>
              <a:rPr b="0" sz="1500" i="0" u="none">
                <a:solidFill>
                  <a:srgbClr val="94A3B8"/>
                </a:solidFill>
                <a:latin typeface="Plus Jakarta Sans"/>
              </a:rPr>
              <a:t>mmHg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514725"/>
            <a:ext cx="617577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Doutrina de Monro-Kellie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733800"/>
            <a:ext cx="5881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Volume Total = Cérebro (80%) + Sangue (10%) + LCR (10%)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3952875"/>
            <a:ext cx="5943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PIC Normal em adultos em repouso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476750"/>
            <a:ext cx="5943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CA5A5"/>
                </a:solidFill>
                <a:latin typeface="Plus Jakarta Sans"/>
              </a:rPr>
              <a:t>Limiar de Tratamento:</a:t>
            </a:r>
            <a:r>
              <a:rPr b="0" sz="1050" i="0" u="none">
                <a:solidFill>
                  <a:srgbClr val="FCA5A5"/>
                </a:solidFill>
                <a:latin typeface="Plus Jakarta Sans"/>
              </a:rPr>
              <a:t> PIC &gt; 22 mmHg mantida (TCE grave).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EF3C7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38450"/>
            <a:ext cx="53721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38450"/>
            <a:ext cx="53721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DIFERENCIAÇÃO CLÍNICA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Hidrocefalia vs. Hipertensão Intracraniana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6057900"/>
            <a:ext cx="11420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Plus Jakarta Sans"/>
              </a:rPr>
              <a:t>Atenção:</a:t>
            </a:r>
            <a:r>
              <a:rPr b="0" sz="1125" i="0" u="none">
                <a:solidFill>
                  <a:srgbClr val="92400E"/>
                </a:solidFill>
                <a:latin typeface="Plus Jakarta Sans"/>
              </a:rPr>
              <a:t> Embora correlacionadas, as condições não são sinônimas. O DVE permite tratar a hidrocefalia e controlar a HIC concomitantemente.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52775"/>
            <a:ext cx="62257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Hidrocefalia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0520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Acúmulo excessivo de LCR no sistema ventricular, levando à dilatação das cavidades ventriculares.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152775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Hipertensão Intracraniana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505200"/>
            <a:ext cx="4838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Elevação sustentada da pressão dentro da caixa craniana acima dos limites fisiológicos.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9900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09900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09900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591175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749" y="5591175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5591175"/>
            <a:ext cx="3530649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ANATOMIA DOS DISPOSITIVOS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Classificação por Mapeamento Anatômico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209925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Ventricular (DVE)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467100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Cateter inserido no ventrículo lateral cerebral.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774" y="3209925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Lombar Externo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774" y="3467100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Espaço subaracnóideo na região lombar.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924" y="3209925"/>
            <a:ext cx="3940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Subdural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924" y="3467100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Espaço entre duramáter e aracnóide.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791200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4. Subgaleal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6048375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Entre o couro cabeludo e o osso craniano.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774" y="5791200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5. Epidural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774" y="6048375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Espaço epidural (frequente em coluna).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1924" y="5791200"/>
            <a:ext cx="3940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6. Subcutâneo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1924" y="6048375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Planos superficiais da ferida operatória.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00750" y="3114675"/>
            <a:ext cx="5581650" cy="148590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00750" y="3114675"/>
            <a:ext cx="38100" cy="14859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DISPOSITIVO GOLD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Dreno Ventricular Externo (DVE)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95637"/>
            <a:ext cx="518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Cateter inserido no ventrículo lateral conectado a um sistema coletor externo fechado.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3343275"/>
            <a:ext cx="5924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Principais Indicações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3676650"/>
            <a:ext cx="59245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✔ Hidrocefalia aguda grave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3933825"/>
            <a:ext cx="59245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✔ Hemorragia intraventricular (HIV)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4191000"/>
            <a:ext cx="59245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✔ Monitorização de PIC no TCE grave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48087"/>
            <a:ext cx="6357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• Drenagem controlada: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Drena LCR por gravidade.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043362"/>
            <a:ext cx="6357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• Monitorização de PIC: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Aferição contínua.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38637"/>
            <a:ext cx="6357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• Caráter temporário: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Uso em ambiente neurocrítico.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83759" y="3005137"/>
            <a:ext cx="4598640" cy="1781175"/>
          </a:xfrm>
          <a:prstGeom prst="roundRect">
            <a:avLst>
              <a:gd name="adj" fmla="val 641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984" y="3281362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DISPOSITIVOS ESPECÍFICOS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Drenagem Lombar Externa (DLE)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9984" y="3700462"/>
            <a:ext cx="49320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Alerta de Segurança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9984" y="3995737"/>
            <a:ext cx="414144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Contraindicada em casos de lesões expansivas ou obstrução do fluxo de LCR, pelo </a:t>
            </a:r>
            <a:r>
              <a:rPr b="1" sz="1050" i="0" u="none">
                <a:solidFill>
                  <a:srgbClr val="7F1D1D"/>
                </a:solidFill>
                <a:latin typeface="Plus Jakarta Sans"/>
              </a:rPr>
              <a:t>alto risco de herniação cerebral uncal/amigdaliana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43275"/>
            <a:ext cx="75866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Localização: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Cateter inserido no espaço subaracnóideo lombar (L3-L4 / L4-L5).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95700"/>
            <a:ext cx="616460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Indicação principal: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Tratamento de fístulas liquóricas e redução de volume em certas cirurgias.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48150"/>
            <a:ext cx="75866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Manejo: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Exige rigoroso controle de débito e posição.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6575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6575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76575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SISTEMAS CIRÚRGICOS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Drenos de Coleções Intracranianas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305175"/>
            <a:ext cx="31432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Espaço Subdural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305175"/>
            <a:ext cx="31432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Plano Epicraniano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800" y="3305175"/>
            <a:ext cx="3143250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Espaço Epidural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59092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Dreno Subdural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86200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Após drenagem de Hematoma Subdural Crônico (HSDC); previne o reacúmulo de sangue e fluido residual.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590925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Dreno Subgaleal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886200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Posicionado entre o couro cabeludo e o calvário; drena coleções hemáticas extracranianas pós-craniotomi 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590925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Dreno Epidural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886200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Posicionado acima da duramáter; mais associado a procedimentos de coluna e descompressões.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957512"/>
            <a:ext cx="5648325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787" y="3271837"/>
            <a:ext cx="3429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DRENAGEM SUPERFICIAL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Drenos Subcutâneos e Sucção Fechada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707" y="3881437"/>
            <a:ext cx="65710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Prescrição Cirúrgica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0940" y="4176712"/>
            <a:ext cx="627459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O uso de sucção contínua (vácuo) ou drenagem por gravidade depende estritamente da orientação do neurocirurgião.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43275"/>
            <a:ext cx="6274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Aplicação: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Planos superficiais do retalho ou ferida cirúrgica.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95700"/>
            <a:ext cx="6274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Remoção de seroma e coleções hemáticas superficiais.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48125"/>
            <a:ext cx="51149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Sistemas de vácuo: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Drenos tipo Porto-Vac ou Hemovac (pressão negativa).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0375"/>
            <a:ext cx="5372100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00375"/>
            <a:ext cx="5372100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324225"/>
            <a:ext cx="9429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3324225"/>
            <a:ext cx="933450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COMPARATIVO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Drenagem Externa vs. Derivação Interna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362325"/>
            <a:ext cx="885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TEMPORÁRIO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29025"/>
            <a:ext cx="622577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Drenagem Externa (Ex: DVE)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10025"/>
            <a:ext cx="5929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Líquido é conduzido para um reservatório coletor fora do corpo.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05300"/>
            <a:ext cx="592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Exige vigilância constante, nivelamento e rigoroso controle de infecção.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362325"/>
            <a:ext cx="876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PERMANENTE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629025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Derivação Interna (Ex: DVP)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010025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Líquido é conduzido internamente para outra cavidade (ex: peritônio).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305300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Totalmente implantado; indicado para hidrocefalia crônica/definitiva.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57550"/>
            <a:ext cx="2443162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257550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2812" y="3257550"/>
            <a:ext cx="2443162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2812" y="3257550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6025" y="3257550"/>
            <a:ext cx="2443162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3257550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39237" y="3257550"/>
            <a:ext cx="2443162" cy="1276350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39237" y="3257550"/>
            <a:ext cx="2443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819525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819525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819525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MECANISMO DO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Funcionamento do DVE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448050"/>
            <a:ext cx="2157412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PASSO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3312" y="3448050"/>
            <a:ext cx="2157412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PASSO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448050"/>
            <a:ext cx="2157412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PASSO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9737" y="3448050"/>
            <a:ext cx="2157412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PASSO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76237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Ventriculostomia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038600"/>
            <a:ext cx="21574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Cateter capta o LCR no ventrículo lateral.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312" y="376237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Gradiente / Gravidade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3312" y="4038600"/>
            <a:ext cx="21574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O LCR flui conforme a altura da câmara graduada.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76237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Câmara Graduada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4038600"/>
            <a:ext cx="21574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Permite mensurar o débito com precisão.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9737" y="376237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Bolsa Coletora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9737" y="4038600"/>
            <a:ext cx="21574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Armazenamento do efluente drenado.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29450" y="3219450"/>
            <a:ext cx="4552950" cy="1276350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PRÁTICA CRUCIAL DE ENFERMAGEM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Nivelamento e Altura Prescrita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7575" y="3457575"/>
            <a:ext cx="4924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Atenção ao 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7575" y="3733800"/>
            <a:ext cx="41719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3A8A"/>
                </a:solidFill>
                <a:latin typeface="Plus Jakarta Sans"/>
              </a:rPr>
              <a:t>DVE alinhado a 10 cmH₂O representa o </a:t>
            </a:r>
            <a:r>
              <a:rPr b="1" sz="1050" i="0" u="none">
                <a:solidFill>
                  <a:srgbClr val="1E3A8A"/>
                </a:solidFill>
                <a:latin typeface="Plus Jakarta Sans"/>
              </a:rPr>
              <a:t>nível de resistência do sistema</a:t>
            </a:r>
            <a:r>
              <a:rPr b="0" sz="1050" i="0" u="none">
                <a:solidFill>
                  <a:srgbClr val="1E3A8A"/>
                </a:solidFill>
                <a:latin typeface="Plus Jakarta Sans"/>
              </a:rPr>
              <a:t> e NÃO significa necessariamente que a PIC do paciente é de 10 mmHg.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19462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Zero Anatômico: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Trago auditivo externo ou Forame de Monro.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14737"/>
            <a:ext cx="7643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Ajuste de Altura: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Conforme prescrição (ex: 10 cmH₂O).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19537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Sistema muito alto: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Subdrenagem (risco de HIC).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14812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Sistema muito baixo: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Hiperdrenagem (risco de colapso/hematoma).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81300"/>
            <a:ext cx="53721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86062"/>
            <a:ext cx="53721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PARÂMETROS CLÍNICOS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Monitorização, Débito e Registro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07695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Ponto-chave: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Ausência súbita de drenagem nem sempre indica obstrução; pode indicar hipotensão liquórica ou mau posicionamento.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19425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Parâmetros Mínimos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52800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Altura prescrita (cmH₂O ou mmHg)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09975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Débito por hora (mL/h)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57625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Valor da PIC (quando monitorizada)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024187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Inspeção Qualitativa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357562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Aspecto (Límpido, Hemático, Sanguinolento)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605212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Transparência e turbidez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852862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Presença de grumos ou sedimentos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29450" y="3309937"/>
            <a:ext cx="4552950" cy="1095375"/>
          </a:xfrm>
          <a:prstGeom prst="roundRect">
            <a:avLst>
              <a:gd name="adj" fmla="val 10434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SEGURANÇA DO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Mobilização e Transporte com DVE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7575" y="3548062"/>
            <a:ext cx="4924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⚠️ Alerta de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7575" y="3824287"/>
            <a:ext cx="4171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NUNCA mantenha o dreno pinçado por longos períodos sem monitorização da PIC ou autorização médica explícita.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43250"/>
            <a:ext cx="621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1. Protocolo de Pinçamento: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Conforme rotina da instituição e prescrição médica prévia à mobilização.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19500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2. Prevenção de Tração: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Garantir fixação do cateter sem tensão.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14775"/>
            <a:ext cx="6210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3. Re-nivelamento OBRIGATÓRIO: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Refazer a linha de zero anatômico imediatamente após a mudança de posição.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391025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4. Despinçamento: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Abrir o sistema confirmando a altura prescrita.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6112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86112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86112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86112"/>
            <a:ext cx="260032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386137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3386137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386137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3386137"/>
            <a:ext cx="2000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SINTESE ASSISTENCIAL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Cuidados Gerais de Enfermagem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767137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Assepsia Rigorosa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024312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Higienização das mãos e manuseio estéril das conexões.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67137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Sistema Fechado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024312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Manter o sistema selado; evitar desconexões desnecessárias.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767137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Sítio de Inserção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4024312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Inspecionar curativo, sinais flogísticos ou extravasamentos.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3767137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Registro Contínuo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4024312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Anotar débito, nível de altura, aspecto do LCR e intercorrências.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29450" y="3224212"/>
            <a:ext cx="4552950" cy="1266825"/>
          </a:xfrm>
          <a:prstGeom prst="roundRect">
            <a:avLst>
              <a:gd name="adj" fmla="val 90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AVALIAÇÃO SISTEMÁTICA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Exame Neurológico Focal e DNE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7575" y="3462337"/>
            <a:ext cx="4924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Alerta de Deterioração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7575" y="3738562"/>
            <a:ext cx="4171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3A8A"/>
                </a:solidFill>
                <a:latin typeface="Plus Jakarta Sans"/>
              </a:rPr>
              <a:t>Qualquer redução na ECG de ≥ 2 pontos ou alteração pupilar exige avaliação neurológica e verificação do dreno imediatamente.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52800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• Escala de Coma de Glasgow: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Avaliação quantitativa do nível de consciência.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29025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• Pupilas: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Fotorreatividade, simetria (isocoria vs. anisocoria) e diâmetro.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05250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• Resposta Motora: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Padrões de força muscular e déficits focais novos.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81475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• Sinais de HIC: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Cefaleia, vômitos em jato, rebaixamento e Tríade de Cushing.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08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52800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1477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76750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GESTÃO DE 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Principais Complicações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914650"/>
            <a:ext cx="214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Obstrução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4125" y="2928937"/>
            <a:ext cx="966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Cessação súbita de drenagem por grumos de sangue, fribrina ou dobra do cateter.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476625"/>
            <a:ext cx="214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Hiperdrenagem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4125" y="3490912"/>
            <a:ext cx="966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Débito excessivo por altura baixa; risco de colapso ventricular e hematoma subdural.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38600"/>
            <a:ext cx="214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Infecciosa (Meningite)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4125" y="4052887"/>
            <a:ext cx="966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Ventriculite/Meningite associada a cateter; LCR turvo, febre e rigidez de nuca.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600575"/>
            <a:ext cx="214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Deslocamento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614862"/>
            <a:ext cx="966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Tracionamento, exteriorização parcial ou acidental do cateter ventricular.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5150"/>
            <a:ext cx="5372100" cy="1504950"/>
          </a:xfrm>
          <a:prstGeom prst="roundRect">
            <a:avLst>
              <a:gd name="adj" fmla="val 759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105150"/>
            <a:ext cx="5372100" cy="1504950"/>
          </a:xfrm>
          <a:prstGeom prst="roundRect">
            <a:avLst>
              <a:gd name="adj" fmla="val 759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PROTOCOLOS DE EMERGÊNCIA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Conduta de Enfermagem em Intercorrências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343275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O QUE FAZER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676650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✔ Avaliar o estado neurológico do paciente.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33825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✔ Conferir o nivelamento e a integridade do dreno.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191000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✔ Acionar a equipe neurocirúrgica imediatamente.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343275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O QUE NÃO FAZER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676650"/>
            <a:ext cx="5743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✖ NÃO irrigar ou aspirar o cateter ventricular.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933825"/>
            <a:ext cx="5743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✖ NÃO reintroduzir cateter exteriorizado.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191000"/>
            <a:ext cx="57435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✖ NÃO alterar a altura sem prescrição expressa.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28725"/>
            <a:ext cx="10972800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95500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71750"/>
            <a:ext cx="10972800" cy="419100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67050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43300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ESTUDO DE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Aplicação Prática em Enfermagem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1390650"/>
            <a:ext cx="1074420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Cenário: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Paciente com hemorragia intraventricular e DVE a 10 cmH₂O. Após mudança de decúbito, apresenta débito volumoso e rebaixamento do nível de consciência.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Qual a conduta prioritária?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209800"/>
            <a:ext cx="10839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A. Aguardar 1 hora para observar evolução do débito.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686050"/>
            <a:ext cx="10839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Plus Jakarta Sans"/>
              </a:rPr>
              <a:t>B. Avaliar paciente imediatamente, checar alinhamento do sistema e acionar neurocirurgia.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181350"/>
            <a:ext cx="10839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C. Baixar o coletor para favorecer a drenagem de LCR.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3657600"/>
            <a:ext cx="10839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D. Irrigar o cateter com soro fisiológico estéril.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0300"/>
            <a:ext cx="10972800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14450"/>
            <a:ext cx="2600325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1314450"/>
            <a:ext cx="2600325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1314450"/>
            <a:ext cx="2600325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1314450"/>
            <a:ext cx="2600325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14763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5" y="1476375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1476375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937" y="147637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ENCERRAMENTO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Pilares da Assistência de Enfermagem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38125" y="2628900"/>
            <a:ext cx="12668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"Cuidar de um dreno encefálico é monitorizar o dispositivo e, principalmente, compreender a resposta clínica do paciente."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65" y="1781175"/>
            <a:ext cx="284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Conhecimento 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7790" y="1781175"/>
            <a:ext cx="284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Monitorização Contínua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8615" y="1781175"/>
            <a:ext cx="284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Assepsia e Rigor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9440" y="1781175"/>
            <a:ext cx="284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Segurança do Paciente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76475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62300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EVIDÊNCIA CIENTÍFICA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Referências Bibliográficas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43050"/>
            <a:ext cx="10763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"/>
              </a:rPr>
              <a:t>Neurocritical Care, 2016. https://pubmed.ncbi.nlm.nih.gov/26738503/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428875"/>
            <a:ext cx="10763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"/>
              </a:rPr>
              <a:t>Journal of Neuroscience Nursing, 2016. https://pubmed.ncbi.nlm.nih.gov/26720321/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14700"/>
            <a:ext cx="10763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"/>
              </a:rPr>
              <a:t>NCBI PMC, 2020. https://pmc.ncbi.nlm.nih.gov/articles/PMC7383112/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552575"/>
            <a:ext cx="11420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1. Fried HI et al.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The Insertion and Management of External Ventricular Drains: An Evidence-Based Consensus Statement.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438400"/>
            <a:ext cx="11420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2. Establishment of an External Ventricular Drain Best Practice Guideline.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324225"/>
            <a:ext cx="11420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3. Evidence-Based Management of External Ventricular Drains.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752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https://library.sheffieldchildrens.nhs.uk/wp-content/uploads/2022/05/External_ventricular_drain.jpg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3619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library.sheffieldchildrens.nhs.uk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